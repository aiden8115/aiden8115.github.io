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7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208" y="1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40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26235" y="551815"/>
            <a:ext cx="9107170" cy="2369185"/>
          </a:xfrm>
        </p:spPr>
        <p:txBody>
          <a:bodyPr/>
          <a:lstStyle/>
          <a:p>
            <a:r>
              <a:rPr lang="zh-CN" altLang="en-US" sz="12000" dirty="0">
                <a:solidFill>
                  <a:schemeClr val="bg1"/>
                </a:solidFill>
                <a:latin typeface="+mj-ea"/>
              </a:rPr>
              <a:t>澳门博彩业</a:t>
            </a:r>
            <a:endParaRPr lang="zh-CN" altLang="en-US" sz="120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07247" y="4697849"/>
            <a:ext cx="797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★★★★★★雷霆小队</a:t>
            </a:r>
            <a:r>
              <a:rPr lang="en-US" altLang="zh-CN" dirty="0">
                <a:solidFill>
                  <a:srgbClr val="FF0000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郑昊阅</a:t>
            </a:r>
            <a:r>
              <a:rPr lang="en-US" altLang="zh-CN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李彦睿</a:t>
            </a:r>
            <a:r>
              <a:rPr lang="en-US" altLang="zh-CN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佘思杨</a:t>
            </a:r>
            <a:r>
              <a:rPr lang="en-US" altLang="zh-CN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徐应象</a:t>
            </a:r>
            <a:r>
              <a:rPr lang="en-US" altLang="zh-CN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修佳琛</a:t>
            </a:r>
            <a:r>
              <a:rPr lang="en-US" altLang="zh-CN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  <a:sym typeface="+mn-ea"/>
              </a:rPr>
              <a:t>马乾容</a:t>
            </a:r>
            <a:endParaRPr lang="zh-CN" altLang="en-US" dirty="0">
              <a:solidFill>
                <a:schemeClr val="tx1"/>
              </a:solidFill>
              <a:highlight>
                <a:srgbClr val="C0C0C0"/>
              </a:highlight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15920" y="3429000"/>
            <a:ext cx="6359525" cy="744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solidFill>
                  <a:schemeClr val="tx1"/>
                </a:solidFill>
                <a:highlight>
                  <a:srgbClr val="C0C0C0"/>
                </a:highlight>
                <a:latin typeface="+mj-ea"/>
                <a:ea typeface="+mj-ea"/>
              </a:rPr>
              <a:t>澳门博彩业的历史与经济影响</a:t>
            </a:r>
            <a:endParaRPr lang="zh-CN" altLang="en-US" sz="3600" dirty="0">
              <a:solidFill>
                <a:schemeClr val="tx1"/>
              </a:solidFill>
              <a:highlight>
                <a:srgbClr val="C0C0C0"/>
              </a:highlight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playing a gam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77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6461" y="356461"/>
            <a:ext cx="4773478" cy="1766807"/>
          </a:xfrm>
          <a:prstGeom prst="round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这张老照片记录了澳门福隆新街赌坊昔日的热闹景象。昏暗室内，人群围聚赌桌，荷官与赌客神情专注，展现出澳门博彩业早期的市井气息。自清末以来，福隆新街一直是澳门博彩重地，见证了博彩业的发展与城市历史的变迁。</a:t>
            </a:r>
            <a:endParaRPr lang="ja-JP" altLang="en-US" sz="1700">
              <a:solidFill>
                <a:schemeClr val="tx1"/>
              </a:solidFill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walking on a street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80" y="-1889714"/>
            <a:ext cx="10481720" cy="13248894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6" name="Rounded Rectangle 5"/>
          <p:cNvSpPr/>
          <p:nvPr/>
        </p:nvSpPr>
        <p:spPr>
          <a:xfrm>
            <a:off x="356461" y="356461"/>
            <a:ext cx="4773478" cy="1766807"/>
          </a:xfrm>
          <a:prstGeom prst="round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这张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1949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年的澳门街景老照片，记录了当地早期娱乐业的发展面貌。画面中的“中西娛樂”是当时具有代表性的娱乐场所，见证了澳门博彩与休闲娱乐业的兴起，也体现出澳门中葡文化交汇</a:t>
            </a:r>
            <a:r>
              <a:rPr lang="ja-JP" altLang="en-CA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互融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下独特的市井风貌。</a:t>
            </a:r>
            <a:endParaRPr lang="ja-JP" altLang="en-US" sz="1700">
              <a:solidFill>
                <a:schemeClr val="tx1"/>
              </a:solidFill>
              <a:latin typeface="STSong" panose="02010600040101010101" pitchFamily="2" charset="-122"/>
              <a:ea typeface="STSong" panose="02010600040101010101" pitchFamily="2" charset="-122"/>
            </a:endParaRPr>
          </a:p>
          <a:p>
            <a:endParaRPr lang="ja-JP" altLang="en-US" sz="1700">
              <a:solidFill>
                <a:schemeClr val="tx1"/>
              </a:solidFill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casino sign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7299"/>
            <a:ext cx="12192000" cy="81152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6461" y="356461"/>
            <a:ext cx="4773478" cy="1766807"/>
          </a:xfrm>
          <a:prstGeom prst="round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这张图片展示澳门著名的“旧葡京赌场”招牌外观。建筑外墙布满霓虹灯与装饰灯，色彩绚丽醒目。中央悬挂大型发光字样，下方可见酒店入口和车辆，展现出澳门地标赌场的繁华风格。</a:t>
            </a:r>
            <a:endParaRPr lang="ja-JP" altLang="en-US" sz="1700">
              <a:solidFill>
                <a:schemeClr val="tx1"/>
              </a:solidFill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56461" y="356461"/>
            <a:ext cx="4773478" cy="1766807"/>
          </a:xfrm>
          <a:prstGeom prst="round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CA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这张饼图清晰地说明了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2019 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年上半年澳门游客以内地为主，占 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70.56%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；香港占 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18.22%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，两地合计近九成。其余地区占比较低，显示客源高度集中于内地及港澳台地区。</a:t>
            </a:r>
            <a:endParaRPr lang="ja-JP" altLang="en-US" sz="1700">
              <a:solidFill>
                <a:schemeClr val="tx1"/>
              </a:solidFill>
              <a:latin typeface="STSong" panose="02010600040101010101" pitchFamily="2" charset="-122"/>
              <a:ea typeface="STSong" panose="02010600040101010101" pitchFamily="2" charset="-122"/>
            </a:endParaRPr>
          </a:p>
          <a:p>
            <a:endParaRPr lang="ja-JP" altLang="en-US" sz="1700">
              <a:solidFill>
                <a:schemeClr val="tx1"/>
              </a:solidFill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  <p:pic>
        <p:nvPicPr>
          <p:cNvPr id="3" name="Picture 2" descr="A blue pie chart with different number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939" y="0"/>
            <a:ext cx="59974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line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653" y="0"/>
            <a:ext cx="8846820" cy="68246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6461" y="356461"/>
            <a:ext cx="4773478" cy="1766807"/>
          </a:xfrm>
          <a:prstGeom prst="round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CA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这张柱形统计图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指出了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2002—2019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年澳门博彩业毛收入总体先升后降再回升。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2013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年收入达峰值，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2015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年增速跌至 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-34.28%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。</a:t>
            </a:r>
            <a:r>
              <a:rPr lang="en-US" altLang="ja-JP" sz="1700" dirty="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2016</a:t>
            </a:r>
            <a:r>
              <a:rPr lang="ja-JP" altLang="en-US" sz="1700">
                <a:solidFill>
                  <a:schemeClr val="tx1"/>
                </a:solidFill>
                <a:latin typeface="STSong" panose="02010600040101010101" pitchFamily="2" charset="-122"/>
                <a:ea typeface="STSong" panose="02010600040101010101" pitchFamily="2" charset="-122"/>
              </a:rPr>
              <a:t>年后行业逐渐复苏，反映博彩业受政策与外部环境影响明显。</a:t>
            </a:r>
            <a:endParaRPr lang="ja-JP" altLang="en-US" sz="1700">
              <a:solidFill>
                <a:schemeClr val="tx1"/>
              </a:solidFill>
              <a:latin typeface="STSong" panose="02010600040101010101" pitchFamily="2" charset="-122"/>
              <a:ea typeface="STSong" panose="020106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WPS 演示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STSong</vt:lpstr>
      <vt:lpstr>微软雅黑</vt:lpstr>
      <vt:lpstr>Arial Unicode MS</vt:lpstr>
      <vt:lpstr>Calibri</vt:lpstr>
      <vt:lpstr>KSOFF85E243C</vt:lpstr>
      <vt:lpstr>JetBrains Mono</vt:lpstr>
      <vt:lpstr>WPS</vt:lpstr>
      <vt:lpstr>澳门博彩业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佘炯</cp:lastModifiedBy>
  <cp:revision>17</cp:revision>
  <dcterms:created xsi:type="dcterms:W3CDTF">2023-08-09T12:44:00Z</dcterms:created>
  <dcterms:modified xsi:type="dcterms:W3CDTF">2026-05-23T07:22:59Z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CA4A65C9131D4ABD8A73B629DB7E72B7_12</vt:lpwstr>
  </property>
</Properties>
</file>